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omorrow" charset="1" panose="00000000000000000000"/>
      <p:regular r:id="rId16"/>
    </p:embeddedFont>
    <p:embeddedFont>
      <p:font typeface="Montserrat" charset="1" panose="00000500000000000000"/>
      <p:regular r:id="rId17"/>
    </p:embeddedFont>
    <p:embeddedFont>
      <p:font typeface="Poppin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62120"/>
            <a:chOff x="0" y="0"/>
            <a:chExt cx="4816593" cy="27027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2781"/>
            </a:xfrm>
            <a:custGeom>
              <a:avLst/>
              <a:gdLst/>
              <a:ahLst/>
              <a:cxnLst/>
              <a:rect r="r" b="b" t="t" l="l"/>
              <a:pathLst>
                <a:path h="270278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2781"/>
                  </a:lnTo>
                  <a:lnTo>
                    <a:pt x="0" y="2702781"/>
                  </a:lnTo>
                  <a:close/>
                </a:path>
              </a:pathLst>
            </a:custGeom>
            <a:solidFill>
              <a:srgbClr val="0D232D">
                <a:alpha val="3294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16593" cy="2759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600950" y="7236753"/>
            <a:ext cx="3086100" cy="492728"/>
            <a:chOff x="0" y="0"/>
            <a:chExt cx="812800" cy="1297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9772"/>
            </a:xfrm>
            <a:custGeom>
              <a:avLst/>
              <a:gdLst/>
              <a:ahLst/>
              <a:cxnLst/>
              <a:rect r="r" b="b" t="t" l="l"/>
              <a:pathLst>
                <a:path h="129772" w="812800">
                  <a:moveTo>
                    <a:pt x="64886" y="0"/>
                  </a:moveTo>
                  <a:lnTo>
                    <a:pt x="747914" y="0"/>
                  </a:lnTo>
                  <a:cubicBezTo>
                    <a:pt x="765123" y="0"/>
                    <a:pt x="781627" y="6836"/>
                    <a:pt x="793795" y="19005"/>
                  </a:cubicBezTo>
                  <a:cubicBezTo>
                    <a:pt x="805964" y="31173"/>
                    <a:pt x="812800" y="47677"/>
                    <a:pt x="812800" y="64886"/>
                  </a:cubicBezTo>
                  <a:lnTo>
                    <a:pt x="812800" y="64886"/>
                  </a:lnTo>
                  <a:cubicBezTo>
                    <a:pt x="812800" y="82095"/>
                    <a:pt x="805964" y="98599"/>
                    <a:pt x="793795" y="110767"/>
                  </a:cubicBezTo>
                  <a:cubicBezTo>
                    <a:pt x="781627" y="122936"/>
                    <a:pt x="765123" y="129772"/>
                    <a:pt x="747914" y="129772"/>
                  </a:cubicBezTo>
                  <a:lnTo>
                    <a:pt x="64886" y="129772"/>
                  </a:lnTo>
                  <a:cubicBezTo>
                    <a:pt x="47677" y="129772"/>
                    <a:pt x="31173" y="122936"/>
                    <a:pt x="19005" y="110767"/>
                  </a:cubicBezTo>
                  <a:cubicBezTo>
                    <a:pt x="6836" y="98599"/>
                    <a:pt x="0" y="82095"/>
                    <a:pt x="0" y="64886"/>
                  </a:cubicBezTo>
                  <a:lnTo>
                    <a:pt x="0" y="64886"/>
                  </a:lnTo>
                  <a:cubicBezTo>
                    <a:pt x="0" y="47677"/>
                    <a:pt x="6836" y="31173"/>
                    <a:pt x="19005" y="19005"/>
                  </a:cubicBezTo>
                  <a:cubicBezTo>
                    <a:pt x="31173" y="6836"/>
                    <a:pt x="47677" y="0"/>
                    <a:pt x="64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812800" cy="18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51762" y="7215473"/>
            <a:ext cx="535288" cy="535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358639" y="7333291"/>
            <a:ext cx="159633" cy="299653"/>
          </a:xfrm>
          <a:custGeom>
            <a:avLst/>
            <a:gdLst/>
            <a:ahLst/>
            <a:cxnLst/>
            <a:rect r="r" b="b" t="t" l="l"/>
            <a:pathLst>
              <a:path h="299653" w="159633">
                <a:moveTo>
                  <a:pt x="0" y="0"/>
                </a:moveTo>
                <a:lnTo>
                  <a:pt x="159633" y="0"/>
                </a:lnTo>
                <a:lnTo>
                  <a:pt x="159633" y="299652"/>
                </a:lnTo>
                <a:lnTo>
                  <a:pt x="0" y="2996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607802" y="3181624"/>
            <a:ext cx="11072395" cy="285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5"/>
              </a:lnSpc>
            </a:pPr>
            <a:r>
              <a:rPr lang="en-US" sz="9668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AI-Powered Cybersecurity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01273" y="6196462"/>
            <a:ext cx="7085454" cy="87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1"/>
              </a:lnSpc>
            </a:pPr>
            <a:r>
              <a:rPr lang="en-US" sz="2551" spc="160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AI-Phishing detection and security awareness platform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47790"/>
            <a:ext cx="4844233" cy="280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690" spc="106">
                <a:solidFill>
                  <a:srgbClr val="F3F3F2"/>
                </a:solidFill>
                <a:latin typeface="Montserrat"/>
                <a:ea typeface="Montserrat"/>
                <a:cs typeface="Montserrat"/>
                <a:sym typeface="Montserrat"/>
              </a:rPr>
              <a:t>www.reallygreatsite.com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D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42712" y="4066844"/>
            <a:ext cx="1030065" cy="103006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24000"/>
                  </a:srgbClr>
                </a:gs>
                <a:gs pos="100000">
                  <a:srgbClr val="489EAB">
                    <a:alpha val="24000"/>
                  </a:srgbClr>
                </a:gs>
              </a:gsLst>
              <a:lin ang="2700000"/>
            </a:gradFill>
            <a:ln w="38100" cap="sq">
              <a:solidFill>
                <a:srgbClr val="FFFFFF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42712" y="5725559"/>
            <a:ext cx="1030065" cy="103006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24000"/>
                  </a:srgbClr>
                </a:gs>
                <a:gs pos="100000">
                  <a:srgbClr val="489EAB">
                    <a:alpha val="24000"/>
                  </a:srgbClr>
                </a:gs>
              </a:gsLst>
              <a:lin ang="2700000"/>
            </a:gradFill>
            <a:ln w="38100" cap="sq">
              <a:solidFill>
                <a:srgbClr val="FFFFFF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42712" y="7355699"/>
            <a:ext cx="1030065" cy="103006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24000"/>
                  </a:srgbClr>
                </a:gs>
                <a:gs pos="100000">
                  <a:srgbClr val="489EAB">
                    <a:alpha val="24000"/>
                  </a:srgbClr>
                </a:gs>
              </a:gsLst>
              <a:lin ang="2700000"/>
            </a:gradFill>
            <a:ln w="38100" cap="sq">
              <a:solidFill>
                <a:srgbClr val="FFFFFF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44247" y="-202937"/>
            <a:ext cx="5744070" cy="8996366"/>
            <a:chOff x="0" y="0"/>
            <a:chExt cx="455234" cy="7129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5234" cy="712988"/>
            </a:xfrm>
            <a:custGeom>
              <a:avLst/>
              <a:gdLst/>
              <a:ahLst/>
              <a:cxnLst/>
              <a:rect r="r" b="b" t="t" l="l"/>
              <a:pathLst>
                <a:path h="712988" w="455234">
                  <a:moveTo>
                    <a:pt x="203200" y="0"/>
                  </a:moveTo>
                  <a:lnTo>
                    <a:pt x="455234" y="0"/>
                  </a:lnTo>
                  <a:lnTo>
                    <a:pt x="252034" y="712988"/>
                  </a:lnTo>
                  <a:lnTo>
                    <a:pt x="0" y="71298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57150"/>
              <a:ext cx="252034" cy="770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616283" y="2489825"/>
            <a:ext cx="5671717" cy="8482024"/>
            <a:chOff x="0" y="0"/>
            <a:chExt cx="476758" cy="7129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6758" cy="712988"/>
            </a:xfrm>
            <a:custGeom>
              <a:avLst/>
              <a:gdLst/>
              <a:ahLst/>
              <a:cxnLst/>
              <a:rect r="r" b="b" t="t" l="l"/>
              <a:pathLst>
                <a:path h="712988" w="476758">
                  <a:moveTo>
                    <a:pt x="203200" y="0"/>
                  </a:moveTo>
                  <a:lnTo>
                    <a:pt x="476758" y="0"/>
                  </a:lnTo>
                  <a:lnTo>
                    <a:pt x="273558" y="712988"/>
                  </a:lnTo>
                  <a:lnTo>
                    <a:pt x="0" y="71298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57150"/>
              <a:ext cx="273558" cy="770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698714" y="4320034"/>
            <a:ext cx="918060" cy="5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448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98714" y="5978749"/>
            <a:ext cx="918060" cy="5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448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98714" y="7608890"/>
            <a:ext cx="918060" cy="5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448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03864" y="4522285"/>
            <a:ext cx="5040136" cy="57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Traditional cyber threats include viruses, malware, phishing, and denial-of-service attacks.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03864" y="6181000"/>
            <a:ext cx="5040136" cy="57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Modern threats include ransomware, advanced persistent threats (APTs), and data breaches.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03864" y="7811141"/>
            <a:ext cx="5040136" cy="86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Emerging threats include AI-powered attacks, IoT vulnerabilities, and the increasing use of automation in cybercrime.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03864" y="4037334"/>
            <a:ext cx="4571196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Traditional Threats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03864" y="5696049"/>
            <a:ext cx="4571196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New Threats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03864" y="7326189"/>
            <a:ext cx="4571196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Emerging Threats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98714" y="1371485"/>
            <a:ext cx="8755389" cy="1590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The Evolving Cybersecurity Landscape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7334476" y="3325783"/>
            <a:ext cx="5744070" cy="6765450"/>
            <a:chOff x="0" y="0"/>
            <a:chExt cx="455234" cy="536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5234" cy="536182"/>
            </a:xfrm>
            <a:custGeom>
              <a:avLst/>
              <a:gdLst/>
              <a:ahLst/>
              <a:cxnLst/>
              <a:rect r="r" b="b" t="t" l="l"/>
              <a:pathLst>
                <a:path h="536182" w="455234">
                  <a:moveTo>
                    <a:pt x="203200" y="0"/>
                  </a:moveTo>
                  <a:lnTo>
                    <a:pt x="455234" y="0"/>
                  </a:lnTo>
                  <a:lnTo>
                    <a:pt x="252034" y="536182"/>
                  </a:lnTo>
                  <a:lnTo>
                    <a:pt x="0" y="536182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252034" cy="593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790365" y="-887740"/>
            <a:ext cx="5744070" cy="6765450"/>
            <a:chOff x="0" y="0"/>
            <a:chExt cx="455234" cy="5361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5234" cy="536182"/>
            </a:xfrm>
            <a:custGeom>
              <a:avLst/>
              <a:gdLst/>
              <a:ahLst/>
              <a:cxnLst/>
              <a:rect r="r" b="b" t="t" l="l"/>
              <a:pathLst>
                <a:path h="536182" w="455234">
                  <a:moveTo>
                    <a:pt x="203200" y="0"/>
                  </a:moveTo>
                  <a:lnTo>
                    <a:pt x="455234" y="0"/>
                  </a:lnTo>
                  <a:lnTo>
                    <a:pt x="252034" y="536182"/>
                  </a:lnTo>
                  <a:lnTo>
                    <a:pt x="0" y="536182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252034" cy="593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14827" y="4330203"/>
            <a:ext cx="4089749" cy="3071029"/>
          </a:xfrm>
          <a:custGeom>
            <a:avLst/>
            <a:gdLst/>
            <a:ahLst/>
            <a:cxnLst/>
            <a:rect r="r" b="b" t="t" l="l"/>
            <a:pathLst>
              <a:path h="3071029" w="4089749">
                <a:moveTo>
                  <a:pt x="0" y="0"/>
                </a:moveTo>
                <a:lnTo>
                  <a:pt x="4089748" y="0"/>
                </a:lnTo>
                <a:lnTo>
                  <a:pt x="4089748" y="3071030"/>
                </a:lnTo>
                <a:lnTo>
                  <a:pt x="0" y="3071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77862" y="4330203"/>
            <a:ext cx="4089749" cy="3071029"/>
          </a:xfrm>
          <a:custGeom>
            <a:avLst/>
            <a:gdLst/>
            <a:ahLst/>
            <a:cxnLst/>
            <a:rect r="r" b="b" t="t" l="l"/>
            <a:pathLst>
              <a:path h="3071029" w="4089749">
                <a:moveTo>
                  <a:pt x="0" y="0"/>
                </a:moveTo>
                <a:lnTo>
                  <a:pt x="4089749" y="0"/>
                </a:lnTo>
                <a:lnTo>
                  <a:pt x="4089749" y="3071030"/>
                </a:lnTo>
                <a:lnTo>
                  <a:pt x="0" y="3071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40897" y="4330203"/>
            <a:ext cx="4089749" cy="3071029"/>
          </a:xfrm>
          <a:custGeom>
            <a:avLst/>
            <a:gdLst/>
            <a:ahLst/>
            <a:cxnLst/>
            <a:rect r="r" b="b" t="t" l="l"/>
            <a:pathLst>
              <a:path h="3071029" w="4089749">
                <a:moveTo>
                  <a:pt x="0" y="0"/>
                </a:moveTo>
                <a:lnTo>
                  <a:pt x="4089749" y="0"/>
                </a:lnTo>
                <a:lnTo>
                  <a:pt x="4089749" y="3071030"/>
                </a:lnTo>
                <a:lnTo>
                  <a:pt x="0" y="3071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26513" y="5638419"/>
            <a:ext cx="2666376" cy="101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sz="12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Signature-based detection relies on identifying known threats, which is ineffective against new and evolving attacks.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89548" y="5638419"/>
            <a:ext cx="2666376" cy="127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sz="12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Humans can be slow to react to threats and prone to errors. They can also be overwhelmed by the vast amount of data that needs to be analyzed.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52584" y="5638419"/>
            <a:ext cx="2666376" cy="101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sz="12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Traditional security solutions can struggle to keep pace with the growing volume and complexity of cyber threats.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26513" y="4787687"/>
            <a:ext cx="2839623" cy="667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Signature-Based Detection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9548" y="4787687"/>
            <a:ext cx="1832493" cy="667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Human Analysts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52584" y="4787687"/>
            <a:ext cx="1832493" cy="667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Limited Scalability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4827" y="1544377"/>
            <a:ext cx="15858347" cy="79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Limitations of Traditional Security Approaches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D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56549" y="7045567"/>
            <a:ext cx="2855578" cy="114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can automate repetitive tasks, freeing up security professionals to focus on more strategic initiatives.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19218" y="7045567"/>
            <a:ext cx="2855578" cy="143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algorithms can learn from data and identify patterns that humans might miss. This can help to detect threats earlier and</a:t>
            </a: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prevent attacks.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16956" y="7045567"/>
            <a:ext cx="2855578" cy="114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can adapt to changing threats and environments, making it more effective than traditional security solutions.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026027" y="6371402"/>
            <a:ext cx="3086100" cy="492728"/>
            <a:chOff x="0" y="0"/>
            <a:chExt cx="812800" cy="1297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29772"/>
            </a:xfrm>
            <a:custGeom>
              <a:avLst/>
              <a:gdLst/>
              <a:ahLst/>
              <a:cxnLst/>
              <a:rect r="r" b="b" t="t" l="l"/>
              <a:pathLst>
                <a:path h="129772" w="812800">
                  <a:moveTo>
                    <a:pt x="64886" y="0"/>
                  </a:moveTo>
                  <a:lnTo>
                    <a:pt x="747914" y="0"/>
                  </a:lnTo>
                  <a:cubicBezTo>
                    <a:pt x="765123" y="0"/>
                    <a:pt x="781627" y="6836"/>
                    <a:pt x="793795" y="19005"/>
                  </a:cubicBezTo>
                  <a:cubicBezTo>
                    <a:pt x="805964" y="31173"/>
                    <a:pt x="812800" y="47677"/>
                    <a:pt x="812800" y="64886"/>
                  </a:cubicBezTo>
                  <a:lnTo>
                    <a:pt x="812800" y="64886"/>
                  </a:lnTo>
                  <a:cubicBezTo>
                    <a:pt x="812800" y="82095"/>
                    <a:pt x="805964" y="98599"/>
                    <a:pt x="793795" y="110767"/>
                  </a:cubicBezTo>
                  <a:cubicBezTo>
                    <a:pt x="781627" y="122936"/>
                    <a:pt x="765123" y="129772"/>
                    <a:pt x="747914" y="129772"/>
                  </a:cubicBezTo>
                  <a:lnTo>
                    <a:pt x="64886" y="129772"/>
                  </a:lnTo>
                  <a:cubicBezTo>
                    <a:pt x="47677" y="129772"/>
                    <a:pt x="31173" y="122936"/>
                    <a:pt x="19005" y="110767"/>
                  </a:cubicBezTo>
                  <a:cubicBezTo>
                    <a:pt x="6836" y="98599"/>
                    <a:pt x="0" y="82095"/>
                    <a:pt x="0" y="64886"/>
                  </a:cubicBezTo>
                  <a:lnTo>
                    <a:pt x="0" y="64886"/>
                  </a:lnTo>
                  <a:cubicBezTo>
                    <a:pt x="0" y="47677"/>
                    <a:pt x="6836" y="31173"/>
                    <a:pt x="19005" y="19005"/>
                  </a:cubicBezTo>
                  <a:cubicBezTo>
                    <a:pt x="31173" y="6836"/>
                    <a:pt x="47677" y="0"/>
                    <a:pt x="64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18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88696" y="6371402"/>
            <a:ext cx="3086100" cy="492728"/>
            <a:chOff x="0" y="0"/>
            <a:chExt cx="812800" cy="1297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29772"/>
            </a:xfrm>
            <a:custGeom>
              <a:avLst/>
              <a:gdLst/>
              <a:ahLst/>
              <a:cxnLst/>
              <a:rect r="r" b="b" t="t" l="l"/>
              <a:pathLst>
                <a:path h="129772" w="812800">
                  <a:moveTo>
                    <a:pt x="64886" y="0"/>
                  </a:moveTo>
                  <a:lnTo>
                    <a:pt x="747914" y="0"/>
                  </a:lnTo>
                  <a:cubicBezTo>
                    <a:pt x="765123" y="0"/>
                    <a:pt x="781627" y="6836"/>
                    <a:pt x="793795" y="19005"/>
                  </a:cubicBezTo>
                  <a:cubicBezTo>
                    <a:pt x="805964" y="31173"/>
                    <a:pt x="812800" y="47677"/>
                    <a:pt x="812800" y="64886"/>
                  </a:cubicBezTo>
                  <a:lnTo>
                    <a:pt x="812800" y="64886"/>
                  </a:lnTo>
                  <a:cubicBezTo>
                    <a:pt x="812800" y="82095"/>
                    <a:pt x="805964" y="98599"/>
                    <a:pt x="793795" y="110767"/>
                  </a:cubicBezTo>
                  <a:cubicBezTo>
                    <a:pt x="781627" y="122936"/>
                    <a:pt x="765123" y="129772"/>
                    <a:pt x="747914" y="129772"/>
                  </a:cubicBezTo>
                  <a:lnTo>
                    <a:pt x="64886" y="129772"/>
                  </a:lnTo>
                  <a:cubicBezTo>
                    <a:pt x="47677" y="129772"/>
                    <a:pt x="31173" y="122936"/>
                    <a:pt x="19005" y="110767"/>
                  </a:cubicBezTo>
                  <a:cubicBezTo>
                    <a:pt x="6836" y="98599"/>
                    <a:pt x="0" y="82095"/>
                    <a:pt x="0" y="64886"/>
                  </a:cubicBezTo>
                  <a:lnTo>
                    <a:pt x="0" y="64886"/>
                  </a:lnTo>
                  <a:cubicBezTo>
                    <a:pt x="0" y="47677"/>
                    <a:pt x="6836" y="31173"/>
                    <a:pt x="19005" y="19005"/>
                  </a:cubicBezTo>
                  <a:cubicBezTo>
                    <a:pt x="31173" y="6836"/>
                    <a:pt x="47677" y="0"/>
                    <a:pt x="64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12800" cy="18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86434" y="6371402"/>
            <a:ext cx="3086100" cy="492728"/>
            <a:chOff x="0" y="0"/>
            <a:chExt cx="812800" cy="1297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29772"/>
            </a:xfrm>
            <a:custGeom>
              <a:avLst/>
              <a:gdLst/>
              <a:ahLst/>
              <a:cxnLst/>
              <a:rect r="r" b="b" t="t" l="l"/>
              <a:pathLst>
                <a:path h="129772" w="812800">
                  <a:moveTo>
                    <a:pt x="64886" y="0"/>
                  </a:moveTo>
                  <a:lnTo>
                    <a:pt x="747914" y="0"/>
                  </a:lnTo>
                  <a:cubicBezTo>
                    <a:pt x="765123" y="0"/>
                    <a:pt x="781627" y="6836"/>
                    <a:pt x="793795" y="19005"/>
                  </a:cubicBezTo>
                  <a:cubicBezTo>
                    <a:pt x="805964" y="31173"/>
                    <a:pt x="812800" y="47677"/>
                    <a:pt x="812800" y="64886"/>
                  </a:cubicBezTo>
                  <a:lnTo>
                    <a:pt x="812800" y="64886"/>
                  </a:lnTo>
                  <a:cubicBezTo>
                    <a:pt x="812800" y="82095"/>
                    <a:pt x="805964" y="98599"/>
                    <a:pt x="793795" y="110767"/>
                  </a:cubicBezTo>
                  <a:cubicBezTo>
                    <a:pt x="781627" y="122936"/>
                    <a:pt x="765123" y="129772"/>
                    <a:pt x="747914" y="129772"/>
                  </a:cubicBezTo>
                  <a:lnTo>
                    <a:pt x="64886" y="129772"/>
                  </a:lnTo>
                  <a:cubicBezTo>
                    <a:pt x="47677" y="129772"/>
                    <a:pt x="31173" y="122936"/>
                    <a:pt x="19005" y="110767"/>
                  </a:cubicBezTo>
                  <a:cubicBezTo>
                    <a:pt x="6836" y="98599"/>
                    <a:pt x="0" y="82095"/>
                    <a:pt x="0" y="64886"/>
                  </a:cubicBezTo>
                  <a:lnTo>
                    <a:pt x="0" y="64886"/>
                  </a:lnTo>
                  <a:cubicBezTo>
                    <a:pt x="0" y="47677"/>
                    <a:pt x="6836" y="31173"/>
                    <a:pt x="19005" y="19005"/>
                  </a:cubicBezTo>
                  <a:cubicBezTo>
                    <a:pt x="31173" y="6836"/>
                    <a:pt x="47677" y="0"/>
                    <a:pt x="64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12800" cy="18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256549" y="6389801"/>
            <a:ext cx="2855578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Automation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19218" y="6389801"/>
            <a:ext cx="2855578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Intelligence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16956" y="6389801"/>
            <a:ext cx="2855578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Adaptability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44000" y="-1350947"/>
            <a:ext cx="11563599" cy="6434348"/>
            <a:chOff x="0" y="0"/>
            <a:chExt cx="1149715" cy="6397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9715" cy="639737"/>
            </a:xfrm>
            <a:custGeom>
              <a:avLst/>
              <a:gdLst/>
              <a:ahLst/>
              <a:cxnLst/>
              <a:rect r="r" b="b" t="t" l="l"/>
              <a:pathLst>
                <a:path h="639737" w="1149715">
                  <a:moveTo>
                    <a:pt x="203200" y="0"/>
                  </a:moveTo>
                  <a:lnTo>
                    <a:pt x="1149715" y="0"/>
                  </a:lnTo>
                  <a:lnTo>
                    <a:pt x="946515" y="639737"/>
                  </a:lnTo>
                  <a:lnTo>
                    <a:pt x="0" y="63973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57150"/>
              <a:ext cx="946515" cy="696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026027" y="1875752"/>
            <a:ext cx="7861639" cy="2360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The Rise of Artificial Intelligence in Cybersecurity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D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42712" y="4066844"/>
            <a:ext cx="1030065" cy="103006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24000"/>
                  </a:srgbClr>
                </a:gs>
                <a:gs pos="100000">
                  <a:srgbClr val="489EAB">
                    <a:alpha val="24000"/>
                  </a:srgbClr>
                </a:gs>
              </a:gsLst>
              <a:lin ang="2700000"/>
            </a:gradFill>
            <a:ln w="38100" cap="sq">
              <a:solidFill>
                <a:srgbClr val="FFFFFF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42712" y="5725559"/>
            <a:ext cx="1030065" cy="103006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24000"/>
                  </a:srgbClr>
                </a:gs>
                <a:gs pos="100000">
                  <a:srgbClr val="489EAB">
                    <a:alpha val="24000"/>
                  </a:srgbClr>
                </a:gs>
              </a:gsLst>
              <a:lin ang="2700000"/>
            </a:gradFill>
            <a:ln w="38100" cap="sq">
              <a:solidFill>
                <a:srgbClr val="FFFFFF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42712" y="7355699"/>
            <a:ext cx="1030065" cy="103006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24000"/>
                  </a:srgbClr>
                </a:gs>
                <a:gs pos="100000">
                  <a:srgbClr val="489EAB">
                    <a:alpha val="24000"/>
                  </a:srgbClr>
                </a:gs>
              </a:gsLst>
              <a:lin ang="2700000"/>
            </a:gradFill>
            <a:ln w="38100" cap="sq">
              <a:solidFill>
                <a:srgbClr val="FFFFFF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96584" y="1500421"/>
            <a:ext cx="4729289" cy="7171094"/>
            <a:chOff x="0" y="0"/>
            <a:chExt cx="470211" cy="7129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0211" cy="712988"/>
            </a:xfrm>
            <a:custGeom>
              <a:avLst/>
              <a:gdLst/>
              <a:ahLst/>
              <a:cxnLst/>
              <a:rect r="r" b="b" t="t" l="l"/>
              <a:pathLst>
                <a:path h="712988" w="470211">
                  <a:moveTo>
                    <a:pt x="203200" y="0"/>
                  </a:moveTo>
                  <a:lnTo>
                    <a:pt x="470211" y="0"/>
                  </a:lnTo>
                  <a:lnTo>
                    <a:pt x="267011" y="712988"/>
                  </a:lnTo>
                  <a:lnTo>
                    <a:pt x="0" y="71298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57150"/>
              <a:ext cx="267011" cy="770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78784" y="-835331"/>
            <a:ext cx="4082444" cy="6497124"/>
            <a:chOff x="0" y="0"/>
            <a:chExt cx="474358" cy="7549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4358" cy="754931"/>
            </a:xfrm>
            <a:custGeom>
              <a:avLst/>
              <a:gdLst/>
              <a:ahLst/>
              <a:cxnLst/>
              <a:rect r="r" b="b" t="t" l="l"/>
              <a:pathLst>
                <a:path h="754931" w="474358">
                  <a:moveTo>
                    <a:pt x="203200" y="0"/>
                  </a:moveTo>
                  <a:lnTo>
                    <a:pt x="474358" y="0"/>
                  </a:lnTo>
                  <a:lnTo>
                    <a:pt x="271158" y="754931"/>
                  </a:lnTo>
                  <a:lnTo>
                    <a:pt x="0" y="754931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11983" y="4436081"/>
            <a:ext cx="4082444" cy="6497124"/>
            <a:chOff x="0" y="0"/>
            <a:chExt cx="474358" cy="7549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4358" cy="754931"/>
            </a:xfrm>
            <a:custGeom>
              <a:avLst/>
              <a:gdLst/>
              <a:ahLst/>
              <a:cxnLst/>
              <a:rect r="r" b="b" t="t" l="l"/>
              <a:pathLst>
                <a:path h="754931" w="474358">
                  <a:moveTo>
                    <a:pt x="203200" y="0"/>
                  </a:moveTo>
                  <a:lnTo>
                    <a:pt x="474358" y="0"/>
                  </a:lnTo>
                  <a:lnTo>
                    <a:pt x="271158" y="754931"/>
                  </a:lnTo>
                  <a:lnTo>
                    <a:pt x="0" y="754931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698714" y="4320034"/>
            <a:ext cx="918060" cy="5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448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98714" y="5978749"/>
            <a:ext cx="918060" cy="5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448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98714" y="7608890"/>
            <a:ext cx="918060" cy="5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448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03864" y="4522285"/>
            <a:ext cx="5040136" cy="86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Machine learning algorithms can identify unusual patterns in network traffic, user behavior, and other data, which may indicate a cyber attack.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03864" y="6181000"/>
            <a:ext cx="5040136" cy="86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ML can analyze user behavior and identify potential threats based on changes in their actions, such as unusual login attempts or file downloads.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03864" y="7811141"/>
            <a:ext cx="5040136" cy="86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Machine learning can be used to analyze threat intelligence feeds, identify emerging threats, and update security systems.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03864" y="4037334"/>
            <a:ext cx="4571196" cy="39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Anomaly Detection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03864" y="5696049"/>
            <a:ext cx="4571196" cy="39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Behavioral Analysis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103864" y="7326189"/>
            <a:ext cx="4571196" cy="39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Threat Intelligence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98714" y="1371485"/>
            <a:ext cx="9424664" cy="159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Machine Learning for Threat Detection and Response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44828" y="5888381"/>
            <a:ext cx="3774034" cy="2833957"/>
          </a:xfrm>
          <a:custGeom>
            <a:avLst/>
            <a:gdLst/>
            <a:ahLst/>
            <a:cxnLst/>
            <a:rect r="r" b="b" t="t" l="l"/>
            <a:pathLst>
              <a:path h="2833957" w="3774034">
                <a:moveTo>
                  <a:pt x="0" y="0"/>
                </a:moveTo>
                <a:lnTo>
                  <a:pt x="3774034" y="0"/>
                </a:lnTo>
                <a:lnTo>
                  <a:pt x="3774034" y="2833957"/>
                </a:lnTo>
                <a:lnTo>
                  <a:pt x="0" y="2833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17015" y="5888381"/>
            <a:ext cx="3774034" cy="2833957"/>
          </a:xfrm>
          <a:custGeom>
            <a:avLst/>
            <a:gdLst/>
            <a:ahLst/>
            <a:cxnLst/>
            <a:rect r="r" b="b" t="t" l="l"/>
            <a:pathLst>
              <a:path h="2833957" w="3774034">
                <a:moveTo>
                  <a:pt x="0" y="0"/>
                </a:moveTo>
                <a:lnTo>
                  <a:pt x="3774034" y="0"/>
                </a:lnTo>
                <a:lnTo>
                  <a:pt x="3774034" y="2833957"/>
                </a:lnTo>
                <a:lnTo>
                  <a:pt x="0" y="2833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89202" y="5888381"/>
            <a:ext cx="3774034" cy="2833957"/>
          </a:xfrm>
          <a:custGeom>
            <a:avLst/>
            <a:gdLst/>
            <a:ahLst/>
            <a:cxnLst/>
            <a:rect r="r" b="b" t="t" l="l"/>
            <a:pathLst>
              <a:path h="2833957" w="3774034">
                <a:moveTo>
                  <a:pt x="0" y="0"/>
                </a:moveTo>
                <a:lnTo>
                  <a:pt x="3774034" y="0"/>
                </a:lnTo>
                <a:lnTo>
                  <a:pt x="3774034" y="2833957"/>
                </a:lnTo>
                <a:lnTo>
                  <a:pt x="0" y="2833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624764" y="3480529"/>
            <a:ext cx="3774034" cy="2007184"/>
            <a:chOff x="0" y="0"/>
            <a:chExt cx="1111995" cy="5914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1995" cy="591404"/>
            </a:xfrm>
            <a:custGeom>
              <a:avLst/>
              <a:gdLst/>
              <a:ahLst/>
              <a:cxnLst/>
              <a:rect r="r" b="b" t="t" l="l"/>
              <a:pathLst>
                <a:path h="591404" w="1111995">
                  <a:moveTo>
                    <a:pt x="95197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431384"/>
                  </a:lnTo>
                  <a:lnTo>
                    <a:pt x="160020" y="591404"/>
                  </a:lnTo>
                  <a:lnTo>
                    <a:pt x="951975" y="591404"/>
                  </a:lnTo>
                  <a:lnTo>
                    <a:pt x="1111995" y="431384"/>
                  </a:lnTo>
                  <a:lnTo>
                    <a:pt x="1111995" y="160020"/>
                  </a:lnTo>
                  <a:lnTo>
                    <a:pt x="95197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296951" y="3480529"/>
            <a:ext cx="3774034" cy="2007184"/>
            <a:chOff x="0" y="0"/>
            <a:chExt cx="1111995" cy="5914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995" cy="591404"/>
            </a:xfrm>
            <a:custGeom>
              <a:avLst/>
              <a:gdLst/>
              <a:ahLst/>
              <a:cxnLst/>
              <a:rect r="r" b="b" t="t" l="l"/>
              <a:pathLst>
                <a:path h="591404" w="1111995">
                  <a:moveTo>
                    <a:pt x="95197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431384"/>
                  </a:lnTo>
                  <a:lnTo>
                    <a:pt x="160020" y="591404"/>
                  </a:lnTo>
                  <a:lnTo>
                    <a:pt x="951975" y="591404"/>
                  </a:lnTo>
                  <a:lnTo>
                    <a:pt x="1111995" y="431384"/>
                  </a:lnTo>
                  <a:lnTo>
                    <a:pt x="1111995" y="160020"/>
                  </a:lnTo>
                  <a:lnTo>
                    <a:pt x="95197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969138" y="3480529"/>
            <a:ext cx="3774034" cy="2007184"/>
            <a:chOff x="0" y="0"/>
            <a:chExt cx="1111995" cy="5914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1995" cy="591404"/>
            </a:xfrm>
            <a:custGeom>
              <a:avLst/>
              <a:gdLst/>
              <a:ahLst/>
              <a:cxnLst/>
              <a:rect r="r" b="b" t="t" l="l"/>
              <a:pathLst>
                <a:path h="591404" w="1111995">
                  <a:moveTo>
                    <a:pt x="95197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431384"/>
                  </a:lnTo>
                  <a:lnTo>
                    <a:pt x="160020" y="591404"/>
                  </a:lnTo>
                  <a:lnTo>
                    <a:pt x="951975" y="591404"/>
                  </a:lnTo>
                  <a:lnTo>
                    <a:pt x="1111995" y="431384"/>
                  </a:lnTo>
                  <a:lnTo>
                    <a:pt x="1111995" y="160020"/>
                  </a:lnTo>
                  <a:lnTo>
                    <a:pt x="95197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01574" y="7100721"/>
            <a:ext cx="2460542" cy="698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1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analyzes historical data to identify patterns and trends that indicate potential future attacks.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73761" y="7100721"/>
            <a:ext cx="2460542" cy="93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1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models assess the likelihood of different threats based on the identified patterns and vulnerabilities.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45948" y="7100721"/>
            <a:ext cx="2460542" cy="93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1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Security teams can take preventative measures to mitigate identified risks before they become actual threats.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01574" y="6316397"/>
            <a:ext cx="2620414" cy="30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743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Data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73761" y="6316397"/>
            <a:ext cx="1691031" cy="610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743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Risk Assessment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45948" y="6316397"/>
            <a:ext cx="1691031" cy="610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743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Proactive Measures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4827" y="1544377"/>
            <a:ext cx="15858347" cy="79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Predictive Analytics: Anticipating Cyber Attacks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D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81974" y="6380372"/>
            <a:ext cx="4194127" cy="86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can segment networks to limit the damage caused by an attack and prevent attackers from gaining access to critical systems.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56549" y="8397926"/>
            <a:ext cx="4219552" cy="86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can automatically patch vulnerabilities and update security systems to reduce the risk of attacks.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026027" y="5727019"/>
            <a:ext cx="4145767" cy="492728"/>
            <a:chOff x="0" y="0"/>
            <a:chExt cx="1091889" cy="1297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1889" cy="129772"/>
            </a:xfrm>
            <a:custGeom>
              <a:avLst/>
              <a:gdLst/>
              <a:ahLst/>
              <a:cxnLst/>
              <a:rect r="r" b="b" t="t" l="l"/>
              <a:pathLst>
                <a:path h="129772" w="1091889">
                  <a:moveTo>
                    <a:pt x="64886" y="0"/>
                  </a:moveTo>
                  <a:lnTo>
                    <a:pt x="1027003" y="0"/>
                  </a:lnTo>
                  <a:cubicBezTo>
                    <a:pt x="1044212" y="0"/>
                    <a:pt x="1060716" y="6836"/>
                    <a:pt x="1072885" y="19005"/>
                  </a:cubicBezTo>
                  <a:cubicBezTo>
                    <a:pt x="1085053" y="31173"/>
                    <a:pt x="1091889" y="47677"/>
                    <a:pt x="1091889" y="64886"/>
                  </a:cubicBezTo>
                  <a:lnTo>
                    <a:pt x="1091889" y="64886"/>
                  </a:lnTo>
                  <a:cubicBezTo>
                    <a:pt x="1091889" y="82095"/>
                    <a:pt x="1085053" y="98599"/>
                    <a:pt x="1072885" y="110767"/>
                  </a:cubicBezTo>
                  <a:cubicBezTo>
                    <a:pt x="1060716" y="122936"/>
                    <a:pt x="1044212" y="129772"/>
                    <a:pt x="1027003" y="129772"/>
                  </a:cubicBezTo>
                  <a:lnTo>
                    <a:pt x="64886" y="129772"/>
                  </a:lnTo>
                  <a:cubicBezTo>
                    <a:pt x="47677" y="129772"/>
                    <a:pt x="31173" y="122936"/>
                    <a:pt x="19005" y="110767"/>
                  </a:cubicBezTo>
                  <a:cubicBezTo>
                    <a:pt x="6836" y="98599"/>
                    <a:pt x="0" y="82095"/>
                    <a:pt x="0" y="64886"/>
                  </a:cubicBezTo>
                  <a:lnTo>
                    <a:pt x="0" y="64886"/>
                  </a:lnTo>
                  <a:cubicBezTo>
                    <a:pt x="0" y="47677"/>
                    <a:pt x="6836" y="31173"/>
                    <a:pt x="19005" y="19005"/>
                  </a:cubicBezTo>
                  <a:cubicBezTo>
                    <a:pt x="31173" y="6836"/>
                    <a:pt x="47677" y="0"/>
                    <a:pt x="64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091889" cy="18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026027" y="7744573"/>
            <a:ext cx="4161956" cy="492728"/>
            <a:chOff x="0" y="0"/>
            <a:chExt cx="1096153" cy="1297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6153" cy="129772"/>
            </a:xfrm>
            <a:custGeom>
              <a:avLst/>
              <a:gdLst/>
              <a:ahLst/>
              <a:cxnLst/>
              <a:rect r="r" b="b" t="t" l="l"/>
              <a:pathLst>
                <a:path h="129772" w="1096153">
                  <a:moveTo>
                    <a:pt x="64886" y="0"/>
                  </a:moveTo>
                  <a:lnTo>
                    <a:pt x="1031267" y="0"/>
                  </a:lnTo>
                  <a:cubicBezTo>
                    <a:pt x="1048476" y="0"/>
                    <a:pt x="1064980" y="6836"/>
                    <a:pt x="1077148" y="19005"/>
                  </a:cubicBezTo>
                  <a:cubicBezTo>
                    <a:pt x="1089317" y="31173"/>
                    <a:pt x="1096153" y="47677"/>
                    <a:pt x="1096153" y="64886"/>
                  </a:cubicBezTo>
                  <a:lnTo>
                    <a:pt x="1096153" y="64886"/>
                  </a:lnTo>
                  <a:cubicBezTo>
                    <a:pt x="1096153" y="82095"/>
                    <a:pt x="1089317" y="98599"/>
                    <a:pt x="1077148" y="110767"/>
                  </a:cubicBezTo>
                  <a:cubicBezTo>
                    <a:pt x="1064980" y="122936"/>
                    <a:pt x="1048476" y="129772"/>
                    <a:pt x="1031267" y="129772"/>
                  </a:cubicBezTo>
                  <a:lnTo>
                    <a:pt x="64886" y="129772"/>
                  </a:lnTo>
                  <a:cubicBezTo>
                    <a:pt x="47677" y="129772"/>
                    <a:pt x="31173" y="122936"/>
                    <a:pt x="19005" y="110767"/>
                  </a:cubicBezTo>
                  <a:cubicBezTo>
                    <a:pt x="6836" y="98599"/>
                    <a:pt x="0" y="82095"/>
                    <a:pt x="0" y="64886"/>
                  </a:cubicBezTo>
                  <a:lnTo>
                    <a:pt x="0" y="64886"/>
                  </a:lnTo>
                  <a:cubicBezTo>
                    <a:pt x="0" y="47677"/>
                    <a:pt x="6836" y="31173"/>
                    <a:pt x="19005" y="19005"/>
                  </a:cubicBezTo>
                  <a:cubicBezTo>
                    <a:pt x="31173" y="6836"/>
                    <a:pt x="47677" y="0"/>
                    <a:pt x="64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096153" cy="18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168902" y="5745418"/>
            <a:ext cx="3450489" cy="39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Network Segmentation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09717" y="8370298"/>
            <a:ext cx="3915245" cy="86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can automatically isolate infected systems to prevent the spread of malware and protect sensitive data.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79195" y="7717580"/>
            <a:ext cx="4145767" cy="492728"/>
            <a:chOff x="0" y="0"/>
            <a:chExt cx="1091889" cy="1297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1889" cy="129772"/>
            </a:xfrm>
            <a:custGeom>
              <a:avLst/>
              <a:gdLst/>
              <a:ahLst/>
              <a:cxnLst/>
              <a:rect r="r" b="b" t="t" l="l"/>
              <a:pathLst>
                <a:path h="129772" w="1091889">
                  <a:moveTo>
                    <a:pt x="64886" y="0"/>
                  </a:moveTo>
                  <a:lnTo>
                    <a:pt x="1027003" y="0"/>
                  </a:lnTo>
                  <a:cubicBezTo>
                    <a:pt x="1044212" y="0"/>
                    <a:pt x="1060716" y="6836"/>
                    <a:pt x="1072885" y="19005"/>
                  </a:cubicBezTo>
                  <a:cubicBezTo>
                    <a:pt x="1085053" y="31173"/>
                    <a:pt x="1091889" y="47677"/>
                    <a:pt x="1091889" y="64886"/>
                  </a:cubicBezTo>
                  <a:lnTo>
                    <a:pt x="1091889" y="64886"/>
                  </a:lnTo>
                  <a:cubicBezTo>
                    <a:pt x="1091889" y="82095"/>
                    <a:pt x="1085053" y="98599"/>
                    <a:pt x="1072885" y="110767"/>
                  </a:cubicBezTo>
                  <a:cubicBezTo>
                    <a:pt x="1060716" y="122936"/>
                    <a:pt x="1044212" y="129772"/>
                    <a:pt x="1027003" y="129772"/>
                  </a:cubicBezTo>
                  <a:lnTo>
                    <a:pt x="64886" y="129772"/>
                  </a:lnTo>
                  <a:cubicBezTo>
                    <a:pt x="47677" y="129772"/>
                    <a:pt x="31173" y="122936"/>
                    <a:pt x="19005" y="110767"/>
                  </a:cubicBezTo>
                  <a:cubicBezTo>
                    <a:pt x="6836" y="98599"/>
                    <a:pt x="0" y="82095"/>
                    <a:pt x="0" y="64886"/>
                  </a:cubicBezTo>
                  <a:lnTo>
                    <a:pt x="0" y="64886"/>
                  </a:lnTo>
                  <a:cubicBezTo>
                    <a:pt x="0" y="47677"/>
                    <a:pt x="6836" y="31173"/>
                    <a:pt x="19005" y="19005"/>
                  </a:cubicBezTo>
                  <a:cubicBezTo>
                    <a:pt x="31173" y="6836"/>
                    <a:pt x="47677" y="0"/>
                    <a:pt x="64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091889" cy="18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509717" y="7735979"/>
            <a:ext cx="2855578" cy="39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Threat Isolation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56549" y="7762972"/>
            <a:ext cx="3574429" cy="39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Vulnerability Patching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09717" y="6379754"/>
            <a:ext cx="3915245" cy="57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can help to recover data that has been lost or corrupted due to a cyber attack.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279195" y="5727019"/>
            <a:ext cx="4145767" cy="492728"/>
            <a:chOff x="0" y="0"/>
            <a:chExt cx="1091889" cy="1297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1889" cy="129772"/>
            </a:xfrm>
            <a:custGeom>
              <a:avLst/>
              <a:gdLst/>
              <a:ahLst/>
              <a:cxnLst/>
              <a:rect r="r" b="b" t="t" l="l"/>
              <a:pathLst>
                <a:path h="129772" w="1091889">
                  <a:moveTo>
                    <a:pt x="64886" y="0"/>
                  </a:moveTo>
                  <a:lnTo>
                    <a:pt x="1027003" y="0"/>
                  </a:lnTo>
                  <a:cubicBezTo>
                    <a:pt x="1044212" y="0"/>
                    <a:pt x="1060716" y="6836"/>
                    <a:pt x="1072885" y="19005"/>
                  </a:cubicBezTo>
                  <a:cubicBezTo>
                    <a:pt x="1085053" y="31173"/>
                    <a:pt x="1091889" y="47677"/>
                    <a:pt x="1091889" y="64886"/>
                  </a:cubicBezTo>
                  <a:lnTo>
                    <a:pt x="1091889" y="64886"/>
                  </a:lnTo>
                  <a:cubicBezTo>
                    <a:pt x="1091889" y="82095"/>
                    <a:pt x="1085053" y="98599"/>
                    <a:pt x="1072885" y="110767"/>
                  </a:cubicBezTo>
                  <a:cubicBezTo>
                    <a:pt x="1060716" y="122936"/>
                    <a:pt x="1044212" y="129772"/>
                    <a:pt x="1027003" y="129772"/>
                  </a:cubicBezTo>
                  <a:lnTo>
                    <a:pt x="64886" y="129772"/>
                  </a:lnTo>
                  <a:cubicBezTo>
                    <a:pt x="47677" y="129772"/>
                    <a:pt x="31173" y="122936"/>
                    <a:pt x="19005" y="110767"/>
                  </a:cubicBezTo>
                  <a:cubicBezTo>
                    <a:pt x="6836" y="98599"/>
                    <a:pt x="0" y="82095"/>
                    <a:pt x="0" y="64886"/>
                  </a:cubicBezTo>
                  <a:lnTo>
                    <a:pt x="0" y="64886"/>
                  </a:lnTo>
                  <a:cubicBezTo>
                    <a:pt x="0" y="47677"/>
                    <a:pt x="6836" y="31173"/>
                    <a:pt x="19005" y="19005"/>
                  </a:cubicBezTo>
                  <a:cubicBezTo>
                    <a:pt x="31173" y="6836"/>
                    <a:pt x="47677" y="0"/>
                    <a:pt x="64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091889" cy="186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509717" y="5745435"/>
            <a:ext cx="2855578" cy="39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Data Recovery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144000" y="-1350947"/>
            <a:ext cx="11563599" cy="6434348"/>
            <a:chOff x="0" y="0"/>
            <a:chExt cx="1149715" cy="6397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9715" cy="639737"/>
            </a:xfrm>
            <a:custGeom>
              <a:avLst/>
              <a:gdLst/>
              <a:ahLst/>
              <a:cxnLst/>
              <a:rect r="r" b="b" t="t" l="l"/>
              <a:pathLst>
                <a:path h="639737" w="1149715">
                  <a:moveTo>
                    <a:pt x="203200" y="0"/>
                  </a:moveTo>
                  <a:lnTo>
                    <a:pt x="1149715" y="0"/>
                  </a:lnTo>
                  <a:lnTo>
                    <a:pt x="946515" y="639737"/>
                  </a:lnTo>
                  <a:lnTo>
                    <a:pt x="0" y="63973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101600" y="-57150"/>
              <a:ext cx="946515" cy="696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026027" y="1875752"/>
            <a:ext cx="7861639" cy="2360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Automated Incident Response and Remediation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D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42712" y="4219244"/>
            <a:ext cx="1030065" cy="103006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24000"/>
                  </a:srgbClr>
                </a:gs>
                <a:gs pos="100000">
                  <a:srgbClr val="489EAB">
                    <a:alpha val="24000"/>
                  </a:srgbClr>
                </a:gs>
              </a:gsLst>
              <a:lin ang="2700000"/>
            </a:gradFill>
            <a:ln w="38100" cap="sq">
              <a:solidFill>
                <a:srgbClr val="FFFFFF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42712" y="5877959"/>
            <a:ext cx="1030065" cy="103006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24000"/>
                  </a:srgbClr>
                </a:gs>
                <a:gs pos="100000">
                  <a:srgbClr val="489EAB">
                    <a:alpha val="24000"/>
                  </a:srgbClr>
                </a:gs>
              </a:gsLst>
              <a:lin ang="2700000"/>
            </a:gradFill>
            <a:ln w="38100" cap="sq">
              <a:solidFill>
                <a:srgbClr val="FFFFFF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42712" y="7508099"/>
            <a:ext cx="1030065" cy="103006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24000"/>
                  </a:srgbClr>
                </a:gs>
                <a:gs pos="100000">
                  <a:srgbClr val="489EAB">
                    <a:alpha val="24000"/>
                  </a:srgbClr>
                </a:gs>
              </a:gsLst>
              <a:lin ang="2700000"/>
            </a:gradFill>
            <a:ln w="38100" cap="sq">
              <a:solidFill>
                <a:srgbClr val="FFFFFF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44247" y="-202937"/>
            <a:ext cx="5744070" cy="8996366"/>
            <a:chOff x="0" y="0"/>
            <a:chExt cx="455234" cy="7129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5234" cy="712988"/>
            </a:xfrm>
            <a:custGeom>
              <a:avLst/>
              <a:gdLst/>
              <a:ahLst/>
              <a:cxnLst/>
              <a:rect r="r" b="b" t="t" l="l"/>
              <a:pathLst>
                <a:path h="712988" w="455234">
                  <a:moveTo>
                    <a:pt x="203200" y="0"/>
                  </a:moveTo>
                  <a:lnTo>
                    <a:pt x="455234" y="0"/>
                  </a:lnTo>
                  <a:lnTo>
                    <a:pt x="252034" y="712988"/>
                  </a:lnTo>
                  <a:lnTo>
                    <a:pt x="0" y="71298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57150"/>
              <a:ext cx="252034" cy="770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616283" y="2489825"/>
            <a:ext cx="5671717" cy="8482024"/>
            <a:chOff x="0" y="0"/>
            <a:chExt cx="476758" cy="7129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6758" cy="712988"/>
            </a:xfrm>
            <a:custGeom>
              <a:avLst/>
              <a:gdLst/>
              <a:ahLst/>
              <a:cxnLst/>
              <a:rect r="r" b="b" t="t" l="l"/>
              <a:pathLst>
                <a:path h="712988" w="476758">
                  <a:moveTo>
                    <a:pt x="203200" y="0"/>
                  </a:moveTo>
                  <a:lnTo>
                    <a:pt x="476758" y="0"/>
                  </a:lnTo>
                  <a:lnTo>
                    <a:pt x="273558" y="712988"/>
                  </a:lnTo>
                  <a:lnTo>
                    <a:pt x="0" y="71298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57150"/>
              <a:ext cx="273558" cy="770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698714" y="4472434"/>
            <a:ext cx="918060" cy="5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448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98714" y="6131149"/>
            <a:ext cx="918060" cy="5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448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98714" y="7761290"/>
            <a:ext cx="918060" cy="5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448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03864" y="4674685"/>
            <a:ext cx="5040136" cy="57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NLP can analyze threat intelligence feeds to identify emerging threats and vulnerabilities.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03864" y="6316792"/>
            <a:ext cx="5040136" cy="86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NLP can detect phishing emails</a:t>
            </a: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and other social engineering attacks by analyzing the content and identifying suspicious patterns.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03864" y="7963541"/>
            <a:ext cx="5040136" cy="57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NLP can be used to verify user identity through voice or text-based authentication.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03864" y="4189734"/>
            <a:ext cx="4571196" cy="39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Threat Intelligence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03864" y="5848449"/>
            <a:ext cx="4571196" cy="39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Phishing Detection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03864" y="7478589"/>
            <a:ext cx="4571196" cy="39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User Authentication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98714" y="1371485"/>
            <a:ext cx="8755389" cy="237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Enhancing Security with Natural Language Processing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7334476" y="3325783"/>
            <a:ext cx="5744070" cy="6765450"/>
            <a:chOff x="0" y="0"/>
            <a:chExt cx="455234" cy="536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5234" cy="536182"/>
            </a:xfrm>
            <a:custGeom>
              <a:avLst/>
              <a:gdLst/>
              <a:ahLst/>
              <a:cxnLst/>
              <a:rect r="r" b="b" t="t" l="l"/>
              <a:pathLst>
                <a:path h="536182" w="455234">
                  <a:moveTo>
                    <a:pt x="203200" y="0"/>
                  </a:moveTo>
                  <a:lnTo>
                    <a:pt x="455234" y="0"/>
                  </a:lnTo>
                  <a:lnTo>
                    <a:pt x="252034" y="536182"/>
                  </a:lnTo>
                  <a:lnTo>
                    <a:pt x="0" y="536182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252034" cy="593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790365" y="-887740"/>
            <a:ext cx="5744070" cy="6765450"/>
            <a:chOff x="0" y="0"/>
            <a:chExt cx="455234" cy="5361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5234" cy="536182"/>
            </a:xfrm>
            <a:custGeom>
              <a:avLst/>
              <a:gdLst/>
              <a:ahLst/>
              <a:cxnLst/>
              <a:rect r="r" b="b" t="t" l="l"/>
              <a:pathLst>
                <a:path h="536182" w="455234">
                  <a:moveTo>
                    <a:pt x="203200" y="0"/>
                  </a:moveTo>
                  <a:lnTo>
                    <a:pt x="455234" y="0"/>
                  </a:lnTo>
                  <a:lnTo>
                    <a:pt x="252034" y="536182"/>
                  </a:lnTo>
                  <a:lnTo>
                    <a:pt x="0" y="536182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252034" cy="593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14827" y="4330203"/>
            <a:ext cx="4089749" cy="3071029"/>
          </a:xfrm>
          <a:custGeom>
            <a:avLst/>
            <a:gdLst/>
            <a:ahLst/>
            <a:cxnLst/>
            <a:rect r="r" b="b" t="t" l="l"/>
            <a:pathLst>
              <a:path h="3071029" w="4089749">
                <a:moveTo>
                  <a:pt x="0" y="0"/>
                </a:moveTo>
                <a:lnTo>
                  <a:pt x="4089748" y="0"/>
                </a:lnTo>
                <a:lnTo>
                  <a:pt x="4089748" y="3071030"/>
                </a:lnTo>
                <a:lnTo>
                  <a:pt x="0" y="3071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77862" y="4330203"/>
            <a:ext cx="4089749" cy="3071029"/>
          </a:xfrm>
          <a:custGeom>
            <a:avLst/>
            <a:gdLst/>
            <a:ahLst/>
            <a:cxnLst/>
            <a:rect r="r" b="b" t="t" l="l"/>
            <a:pathLst>
              <a:path h="3071029" w="4089749">
                <a:moveTo>
                  <a:pt x="0" y="0"/>
                </a:moveTo>
                <a:lnTo>
                  <a:pt x="4089749" y="0"/>
                </a:lnTo>
                <a:lnTo>
                  <a:pt x="4089749" y="3071030"/>
                </a:lnTo>
                <a:lnTo>
                  <a:pt x="0" y="3071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40897" y="4330203"/>
            <a:ext cx="4089749" cy="3071029"/>
          </a:xfrm>
          <a:custGeom>
            <a:avLst/>
            <a:gdLst/>
            <a:ahLst/>
            <a:cxnLst/>
            <a:rect r="r" b="b" t="t" l="l"/>
            <a:pathLst>
              <a:path h="3071029" w="4089749">
                <a:moveTo>
                  <a:pt x="0" y="0"/>
                </a:moveTo>
                <a:lnTo>
                  <a:pt x="4089749" y="0"/>
                </a:lnTo>
                <a:lnTo>
                  <a:pt x="4089749" y="3071030"/>
                </a:lnTo>
                <a:lnTo>
                  <a:pt x="0" y="3071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26513" y="5638419"/>
            <a:ext cx="2666376" cy="76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sz="12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can help to secure IoT devices by identifying and mitigating vulnerabilities.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89548" y="5638419"/>
            <a:ext cx="2666376" cy="76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sz="12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can protect IoT networks from attacks by detecting and preventing malicious activity.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52584" y="5638419"/>
            <a:ext cx="2666376" cy="76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sz="12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can help to protect the privacy of data generated by IoT devices.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26513" y="4787687"/>
            <a:ext cx="2839623" cy="33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Device Security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9548" y="4787687"/>
            <a:ext cx="1832493" cy="66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Network Protection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52584" y="4787687"/>
            <a:ext cx="1832493" cy="33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Data Privacy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4827" y="1544377"/>
            <a:ext cx="15858347" cy="157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Securing the Internet of Things with AI-Driven Solutions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D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56549" y="7913145"/>
            <a:ext cx="2855578" cy="114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will continue to evolve and become more effective at detecting and responding to threats.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19218" y="7913145"/>
            <a:ext cx="2855578" cy="114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will automate more security tasks, making security operations more efficient and effective.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16956" y="7913145"/>
            <a:ext cx="2855578" cy="114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responsible use of AI in cybersecurity is crucial to ensure that it is used to protect people and systems.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026027" y="6371402"/>
            <a:ext cx="3358767" cy="1137215"/>
            <a:chOff x="0" y="0"/>
            <a:chExt cx="884614" cy="2995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4614" cy="299513"/>
            </a:xfrm>
            <a:custGeom>
              <a:avLst/>
              <a:gdLst/>
              <a:ahLst/>
              <a:cxnLst/>
              <a:rect r="r" b="b" t="t" l="l"/>
              <a:pathLst>
                <a:path h="299513" w="884614">
                  <a:moveTo>
                    <a:pt x="149757" y="0"/>
                  </a:moveTo>
                  <a:lnTo>
                    <a:pt x="734857" y="0"/>
                  </a:lnTo>
                  <a:cubicBezTo>
                    <a:pt x="774575" y="0"/>
                    <a:pt x="812666" y="15778"/>
                    <a:pt x="840751" y="43863"/>
                  </a:cubicBezTo>
                  <a:cubicBezTo>
                    <a:pt x="868836" y="71948"/>
                    <a:pt x="884614" y="110039"/>
                    <a:pt x="884614" y="149757"/>
                  </a:cubicBezTo>
                  <a:lnTo>
                    <a:pt x="884614" y="149757"/>
                  </a:lnTo>
                  <a:cubicBezTo>
                    <a:pt x="884614" y="232465"/>
                    <a:pt x="817565" y="299513"/>
                    <a:pt x="734857" y="299513"/>
                  </a:cubicBezTo>
                  <a:lnTo>
                    <a:pt x="149757" y="299513"/>
                  </a:lnTo>
                  <a:cubicBezTo>
                    <a:pt x="110039" y="299513"/>
                    <a:pt x="71948" y="283735"/>
                    <a:pt x="43863" y="255651"/>
                  </a:cubicBezTo>
                  <a:cubicBezTo>
                    <a:pt x="15778" y="227566"/>
                    <a:pt x="0" y="189475"/>
                    <a:pt x="0" y="149757"/>
                  </a:cubicBezTo>
                  <a:lnTo>
                    <a:pt x="0" y="149757"/>
                  </a:lnTo>
                  <a:cubicBezTo>
                    <a:pt x="0" y="110039"/>
                    <a:pt x="15778" y="71948"/>
                    <a:pt x="43863" y="43863"/>
                  </a:cubicBezTo>
                  <a:cubicBezTo>
                    <a:pt x="71948" y="15778"/>
                    <a:pt x="110039" y="0"/>
                    <a:pt x="1497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84614" cy="356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623" y="6371402"/>
            <a:ext cx="3358767" cy="1137215"/>
            <a:chOff x="0" y="0"/>
            <a:chExt cx="884614" cy="2995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4614" cy="299513"/>
            </a:xfrm>
            <a:custGeom>
              <a:avLst/>
              <a:gdLst/>
              <a:ahLst/>
              <a:cxnLst/>
              <a:rect r="r" b="b" t="t" l="l"/>
              <a:pathLst>
                <a:path h="299513" w="884614">
                  <a:moveTo>
                    <a:pt x="149757" y="0"/>
                  </a:moveTo>
                  <a:lnTo>
                    <a:pt x="734857" y="0"/>
                  </a:lnTo>
                  <a:cubicBezTo>
                    <a:pt x="774575" y="0"/>
                    <a:pt x="812666" y="15778"/>
                    <a:pt x="840751" y="43863"/>
                  </a:cubicBezTo>
                  <a:cubicBezTo>
                    <a:pt x="868836" y="71948"/>
                    <a:pt x="884614" y="110039"/>
                    <a:pt x="884614" y="149757"/>
                  </a:cubicBezTo>
                  <a:lnTo>
                    <a:pt x="884614" y="149757"/>
                  </a:lnTo>
                  <a:cubicBezTo>
                    <a:pt x="884614" y="232465"/>
                    <a:pt x="817565" y="299513"/>
                    <a:pt x="734857" y="299513"/>
                  </a:cubicBezTo>
                  <a:lnTo>
                    <a:pt x="149757" y="299513"/>
                  </a:lnTo>
                  <a:cubicBezTo>
                    <a:pt x="110039" y="299513"/>
                    <a:pt x="71948" y="283735"/>
                    <a:pt x="43863" y="255651"/>
                  </a:cubicBezTo>
                  <a:cubicBezTo>
                    <a:pt x="15778" y="227566"/>
                    <a:pt x="0" y="189475"/>
                    <a:pt x="0" y="149757"/>
                  </a:cubicBezTo>
                  <a:lnTo>
                    <a:pt x="0" y="149757"/>
                  </a:lnTo>
                  <a:cubicBezTo>
                    <a:pt x="0" y="110039"/>
                    <a:pt x="15778" y="71948"/>
                    <a:pt x="43863" y="43863"/>
                  </a:cubicBezTo>
                  <a:cubicBezTo>
                    <a:pt x="71948" y="15778"/>
                    <a:pt x="110039" y="0"/>
                    <a:pt x="1497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84614" cy="356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65361" y="6371402"/>
            <a:ext cx="3358767" cy="1137215"/>
            <a:chOff x="0" y="0"/>
            <a:chExt cx="884614" cy="2995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84614" cy="299513"/>
            </a:xfrm>
            <a:custGeom>
              <a:avLst/>
              <a:gdLst/>
              <a:ahLst/>
              <a:cxnLst/>
              <a:rect r="r" b="b" t="t" l="l"/>
              <a:pathLst>
                <a:path h="299513" w="884614">
                  <a:moveTo>
                    <a:pt x="149757" y="0"/>
                  </a:moveTo>
                  <a:lnTo>
                    <a:pt x="734857" y="0"/>
                  </a:lnTo>
                  <a:cubicBezTo>
                    <a:pt x="774575" y="0"/>
                    <a:pt x="812666" y="15778"/>
                    <a:pt x="840751" y="43863"/>
                  </a:cubicBezTo>
                  <a:cubicBezTo>
                    <a:pt x="868836" y="71948"/>
                    <a:pt x="884614" y="110039"/>
                    <a:pt x="884614" y="149757"/>
                  </a:cubicBezTo>
                  <a:lnTo>
                    <a:pt x="884614" y="149757"/>
                  </a:lnTo>
                  <a:cubicBezTo>
                    <a:pt x="884614" y="232465"/>
                    <a:pt x="817565" y="299513"/>
                    <a:pt x="734857" y="299513"/>
                  </a:cubicBezTo>
                  <a:lnTo>
                    <a:pt x="149757" y="299513"/>
                  </a:lnTo>
                  <a:cubicBezTo>
                    <a:pt x="110039" y="299513"/>
                    <a:pt x="71948" y="283735"/>
                    <a:pt x="43863" y="255651"/>
                  </a:cubicBezTo>
                  <a:cubicBezTo>
                    <a:pt x="15778" y="227566"/>
                    <a:pt x="0" y="189475"/>
                    <a:pt x="0" y="149757"/>
                  </a:cubicBezTo>
                  <a:lnTo>
                    <a:pt x="0" y="149757"/>
                  </a:lnTo>
                  <a:cubicBezTo>
                    <a:pt x="0" y="110039"/>
                    <a:pt x="15778" y="71948"/>
                    <a:pt x="43863" y="43863"/>
                  </a:cubicBezTo>
                  <a:cubicBezTo>
                    <a:pt x="71948" y="15778"/>
                    <a:pt x="110039" y="0"/>
                    <a:pt x="1497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84614" cy="356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277622" y="6512052"/>
            <a:ext cx="2855578" cy="79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Advanced Threat Detection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19218" y="6512052"/>
            <a:ext cx="2855578" cy="79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Automated Security Operations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16956" y="6512052"/>
            <a:ext cx="2855578" cy="79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Ethical AI in Cybersecurity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994614" y="-1290848"/>
            <a:ext cx="11563599" cy="6434348"/>
            <a:chOff x="0" y="0"/>
            <a:chExt cx="1149715" cy="6397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9715" cy="639737"/>
            </a:xfrm>
            <a:custGeom>
              <a:avLst/>
              <a:gdLst/>
              <a:ahLst/>
              <a:cxnLst/>
              <a:rect r="r" b="b" t="t" l="l"/>
              <a:pathLst>
                <a:path h="639737" w="1149715">
                  <a:moveTo>
                    <a:pt x="203200" y="0"/>
                  </a:moveTo>
                  <a:lnTo>
                    <a:pt x="1149715" y="0"/>
                  </a:lnTo>
                  <a:lnTo>
                    <a:pt x="946515" y="639737"/>
                  </a:lnTo>
                  <a:lnTo>
                    <a:pt x="0" y="63973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57150"/>
              <a:ext cx="946515" cy="696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026027" y="1875752"/>
            <a:ext cx="7861639" cy="2360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The Future of AI-Powered Cybersecurity: Trends and Innovations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DAHW8XlygqY</dc:identifier>
  <dcterms:modified xsi:type="dcterms:W3CDTF">2011-08-01T06:04:30Z</dcterms:modified>
  <cp:revision>1</cp:revision>
  <dc:title>AI-Phishing detection and security awareness platform</dc:title>
</cp:coreProperties>
</file>